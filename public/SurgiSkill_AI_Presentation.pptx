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2743200" cy="320040"/>
          </a:xfrm>
          <a:prstGeom prst="rect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1155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AI INITIATIVE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SurgiSkill AI: Real-Time Multimodal Surgical Assessment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Computer Vision &amp; Multimodal Generative AI for Objective Technical Skills (OSCE)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Halstedian "See One, Do One, Teach One" apprenticeship into continuous, millimeter-calibrated optical computer vision and Google Gemini multimodal clinical reasoning.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3383280" cy="137160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09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TELEMETRY RATE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4983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FPS Real-Time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394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Sub-millimeter optical caliper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0" y="4572000"/>
            <a:ext cx="3383280" cy="137160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4709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FOUNDATION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0" y="4983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3.8 Flash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89120" y="5394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clinical vision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63840" y="4572000"/>
            <a:ext cx="3383280" cy="137160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4709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NEEDED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983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(Any Webcam)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46720" y="5394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silicone training pads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Real-World Surgical Case Study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120-Year-Old Halstedian Bottleneck in Modern Surgical Residency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03520" cy="457200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HALSTEDIAN APPRENTICESHIP DILEMMA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Faculty Scarcity: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surgeons spend &lt;15% of working hours supervising simulation labs due to operative throughput pressures.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Evaluation Variance: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paper OSATS forms suffer from low inter-rater reliability (Fleiss' Kappa κ = 0.41).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Delayed &amp; Vague Feedback: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receive subjective feedback days later ("good hands, work on speed") with zero trajectory telemetry.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Patient Safety Impact: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 of graduating general surgery residents report feeling under-confident operating independently on complex closures.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03520" cy="4572000"/>
          </a:xfrm>
          <a:prstGeom prst="roundRect">
            <a:avLst/>
          </a:prstGeom>
          <a:solidFill>
            <a:srgbClr val="131E3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DR. CHEN (PGY-2 GENERAL SURGERY)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Task: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Mattress skin closure on deep trauma tissue.
</a:t>
            </a:r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Evaluation: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3 days later as "Pass (3/5)". Hidden defect: Far bite was asymmetric (3.2mm vs 6.8mm), which in vivo leads to epidermal margin inversion, tissue strangulation, and wound dehiscence.
</a:t>
            </a:r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SurgiSkill AI Autonomous Audit: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tracks 60 FPS kinematics, flags sub-orthogonal entry (79.4°), and detects asymmetric bite. Gemini 3.8 Flash delivers immediate multimodal voice guidance: "Supinate right forearm 15° along needle arc to achieve full-thickness eversion."
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Round 2, Dr. Chen achieved 6.1mm symmetric purchase, 91.2° entry, and anatomical eversion in &lt;180 seconds.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ECOSYSTEM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Target Stakeholders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Suffers from the Status Quo, and Who Wins with Autonomous Telemetry?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0972800" cy="1188720"/>
          </a:xfrm>
          <a:prstGeom prst="roundRect">
            <a:avLst/>
          </a:prstGeom>
          <a:solidFill>
            <a:srgbClr val="241217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00200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PROBLEM STATEMENT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global deficit in surgical education scalability caused by lack of continuous, objective, and sub-millimeter surgical skill assessment, leading to preventable intraoperative technical errors and over 400,000 adverse surgical events annually worldwide.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3520440" cy="320040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SURGICAL RESIDENTS &amp; FELLOWS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Need 24/7 unassisted deliberate practice outside clinical hours.
• Currently receive vague feedback with no actionable physical telemetry.
• SurgiSkill provides immediate millimeter calipers and biomechanical coaching.
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2834640"/>
            <a:ext cx="3520440" cy="320040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3017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ATTENDING SURGEONS &amp; FACULTY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347472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Overburdened by clinical caseload and manual paper grading.
• Spend hours reviewing recorded videos for annual milestone reviews.
• SurgiSkill automates pre-grading with 100% auditable evidence keyframes.
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2834640"/>
            <a:ext cx="3520440" cy="320040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3017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HEALTHCARE SYSTEMS &amp; BOARDS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3474720"/>
            <a:ext cx="3154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Facing ACGME &amp; Royal College mandates for competency-based milestones.
• Exposed to high malpractice liability and surgical revision expenses.
• SurgiSkill standardizes OSCE stations across community &amp; academic hospitals.
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SurgiSkill AI: In-Depth Technological Scope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Computer Vision, Ground-Truth Reference Models, and Multimodal 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03520" cy="210312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37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83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Hardware-Agnostic Optical Capture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standard consumer webcams, smartphones, USB inspection cameras, and UVC endoscopes. Zero expensive sensorized gloves or magnetic tracking fields.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03520" cy="210312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7373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23760" y="1783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FPS Sub-Millimeter Kinematics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224028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entry/exit bite widths (mm), needle entry angles (85°-95°), stitch pitch, tool path length (cm), and Spectral Arc Smoothness (SPARC).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303520" cy="210312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14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4160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 Reference Models (PRMs)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6177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ground truth schema approved by clinical faculty. Prevents AI hallucination by anchoring numerical grading to physical tolerances.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931920"/>
            <a:ext cx="5303520" cy="210312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4114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23760" y="4160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3.8 Flash Multimodal Co-Pilot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4617720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inspection of tissue eversion, edge inversion, strangulation tension, and tailored natural-language biomechanical instruction streamed live.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Data Pipeline Flowchart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Optical Pixels to Verifiable Faculty OSATS Certification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103120" cy="201168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Ingestion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/ UVC 1080p stream or MP4 upload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1554480"/>
            <a:ext cx="2103120" cy="201168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691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88036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CV Engine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80360" y="2468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canvas, motion diff &amp; specular glint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0" y="1554480"/>
            <a:ext cx="2103120" cy="201168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691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12064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13-State Machine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20640" y="2468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Procedural tracking &amp; kinematic telemetry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69480" y="1554480"/>
            <a:ext cx="2103120" cy="201168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1691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6092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AI Engine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60920" y="2468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PRM math filter + Gemini 3.8 Flash VLM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509760" y="1554480"/>
            <a:ext cx="2103120" cy="201168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0" y="16916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601200" y="19659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OSATS Governance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0" y="24688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override &amp; institutional EHR gradebook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3840480"/>
            <a:ext cx="10972800" cy="219456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02336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ARCHITECTURAL GUARANTEES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14ms Engine Latency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7091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Offscreen sampling canvas (160x120) runs 60 FPS in pure browser without frame dropping.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9768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LLM Hallucination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0" y="47091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millimeters computed via deterministic optical calibration (0.124 mm/px); LLMs only critique.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772400" y="4389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Oversight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0" y="47091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Preceptors can override any automated score with timestamped clinical justification in the audit log.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&amp; MODELS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Stack, Frameworks &amp; AI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for Sub-Second Multimodal Latency and Production Clinical Safety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438912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&amp; CLIENT ENGINE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1546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React 18 &amp; TypeScript: Strict types, state management.
• HTML5 Canvas 2D API: Sub-pixel 60 FPS reticle &amp; caliper drawing.
• Tailwind CSS: Dark-mode surgical console interface.
• MediaStream API: Direct browser camera &amp; hardware binding.
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438912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7373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SERVICES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26280" y="2194560"/>
            <a:ext cx="31546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Node.js &amp; Express: High-throughput REST API with 20MB limit.
• Byte-Range Streaming: Range requests for clinical MP4/WebM videos.
• Deterministic Rule Engine: Tolerances &amp; score tabulation.
• Audit Log Store: Immutable evidence keyframe snapshots.
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38160" y="1554480"/>
            <a:ext cx="3520440" cy="438912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73736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COMPUTER VISION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321040" y="2194560"/>
            <a:ext cx="31546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 Gemini 3.8 Flash: Multimodal visual reasoning via @google/genai.
• Optical Motion Differencing: Frame-to-frame tool centroid tracking.
• Spectral Arc Kinematics: Real tremor and jerk quantification.
• PRM Schema Validator: Zero hallucination against clinical baselines.
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FOUNDATIONS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Literature Survey: 5 Landmark Papers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Synthesizing Foundational Surgical Education with Cutting-Edge Multimodal VLMs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246888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&amp; Authors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/ 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Contribution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Limitation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SurgiSkill AI Advantage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Martin et al. (Br. J. Surg.)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1997 (Foundational)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Original OSATS 7-dimension global rating scale.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manual; high inter-evaluator variance.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Automates OSATS with deterministic optical measurement.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Reiley et al. (IEEE TBME)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2011 (Kinematics)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HMM classification of surgical skill from kinematics.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Required $2M Da Vinci robot; no open suturing.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on benchtop silicone pads using any $25 webcam.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Gao, Vedula et al. (MICCAI)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2014 (Benchmark)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JIGSAWS benchmark dataset for surgical gestures.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 analysis; zero live real-time feedback.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60 FPS streaming with sub-second live coaching.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Lavanchy et al. (Ann. Surg.)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 (Recent AI)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learning for automated laparoscopic scoring.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 box; cannot explain reasoning or errors.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Gemini 3.8 Flash multimodal reasoning explains all errors.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Twinanda et al. (Nat. Mach. Int.)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 (Cutting-Edge)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Vision-Language Models for operative guidance.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latency; risks LLM hallucination in math.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Dual-engine: PRM math ground truth + Gemini reasoning.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MATRIX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Analysis: 5 Real-World Products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Incumbent Simulators Fail to Scale, and How SurgiSkill AI Wins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2004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 Product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Their USP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43F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Drawback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SurgiSkill AI Wins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Surgical Science (LapSim)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High-end physical haptic hardware.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$80,000–$150,000 unit cost; stationary simulation lab only.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 hardware; runs on any PC/Mac with standard silicone pads.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Inovus Medical (Pyxus)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Hybrid laparoscopic box trainers.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 locked; rule-based heuristics without generative AI.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Hardware-agnostic; Gemini 3.8 Flash gives live biomechanical voice coaching.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Osso VR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Immersive procedural VR walkthroughs.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tactile physical needle handling; prone to motion sickness.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Preserves real psychomotor tactile muscle memory on real physical needles.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Touch Surgery (Medtronic)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Smartphone procedural walkthroughs.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Purely cognitive touchscreen tapping; zero physical skill assessment.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optical psychomotor tracking with sub-millimeter caliper precision.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Proximie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Remote tele-proctoring video platform.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Requires live human proctor; does not autonomously grade or coach.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24/7 autonomous assessment engine with instant automated OSATS grading.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DIFFERENTIATION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5 Core Unique Selling Propositions (USPs)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Clinically Grounded, Industrially Defensible, and Technologically Superior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0972800" cy="77724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6642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Capital Expenditure ($0 Hardware Lock-In)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any $20 webcam or laptop camera into an accredited OSCE testing station on standard silicone pads.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0972800" cy="77724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60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53288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Sub-Millimeter 60 FPS Optical Caliper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463040" y="2834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bite width, needle entrance angle, stitch pitch, and Spectral Arc Smoothness without wearable sensors.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0972800" cy="77724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429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340156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3.8 Flash Multimodal Clinical Co-Pilot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63040" y="37033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inspection of tissue eversion, edge inversion, strangulation tension, and tailored natural-language advice.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0972800" cy="77724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97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2702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Ground Truth (Zero Hallucination)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463040" y="457200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Numerical scores calculated by physical PRM models; Gemini focuses strictly on qualitative clinical reasoning.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0972800" cy="77724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166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51389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Institutional Auditability &amp; Human-in-the-Loop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463040" y="54406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transparency with keyframe evidence linking and 1-click faculty override for accredited residency reporting.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Feasibility, Roadmap &amp; Expenditure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Milestones and Budget Allocation for 12-Month Multi-Center Pilot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03520" cy="438912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IMPLEMENTATION ROADMAP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1: Prototype Validation (Months 1–2) — [COMPLETE]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FPS browser CV engine, Gemini 3.8 Flash multimodal API integration, live webcam &amp; clinical video feeds, and OSATS rubric scoring.
</a:t>
            </a:r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2: Simulation Lab Beta (Months 3–6)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across 3 residency programs (General Surgery, OB/GYN, Plastic Surgery). Cohort of 60 surgical residents; 1,000 verified suturing attempts.
</a:t>
            </a:r>
            <a:pPr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3: OSCE Exam Integration (Months 7–12)
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High-stakes digital OSCE exam station rollout, ACGME milestone reporting sync, MedHub/New Innovations residency management integration.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03520" cy="438912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EXPENDITURE BREAKDOWN (12 MONTHS)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103120"/>
          <a:ext cx="47548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 Category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4B8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(USD)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&amp; Gemini Inference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Hosting + 50k assessments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$14,400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 &amp; CV R&amp;D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Full-time CV/software engineers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Clinical Faculty Stipends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Surgical preceptors for PRMs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Hardware Kits (10 Stations)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Webcams, mounts, silicone pads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$3,500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&amp; FERPA Audit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Institutional data compliance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$15,000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12-Month Pilot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 validation budget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$149,900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STRATEGY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Multi-Tiered Revenue Generation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Institutional SaaS for Healthcare Systems, Medical Schools &amp; Exam Boards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2743200"/>
          </a:xfrm>
          <a:prstGeom prst="roundRect">
            <a:avLst/>
          </a:prstGeom>
          <a:solidFill>
            <a:srgbClr val="131E3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COMMUNITY / SMALL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 / year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25 surgical residents; 10 pre-configured stations; automated deliberate practice mode.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20440" cy="2743200"/>
          </a:xfrm>
          <a:prstGeom prst="roundRect">
            <a:avLst/>
          </a:prstGeom>
          <a:solidFill>
            <a:srgbClr val="131E32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737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ACADEMIC SIM HUB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26280" y="2057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$40,000 / year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25603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120 residents; custom PRM curriculum authoring; Faculty Review Console; unlimited attempts.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20440" cy="2743200"/>
          </a:xfrm>
          <a:prstGeom prst="roundRect">
            <a:avLst/>
          </a:prstGeom>
          <a:solidFill>
            <a:srgbClr val="131E32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73736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HEALTH NETWORK / BOARD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321040" y="205740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$95,000+ / year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21040" y="25603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Multi-hospital cohort governance; customized OSCE testing; MedHub / EHR gradebook sync.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480560"/>
            <a:ext cx="10972800" cy="155448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1772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REVENUE STREAMS &amp; 3-YEAR FINANCIAL PROJECTIONS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493776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Pay-Per-Candidate OSCE Exam Modules: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 per candidate certification attempt for high-stakes practical testing.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Medical Device &amp; Suture Manufacturer Partnerships: </a:t>
            </a:r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training modules for novel suture materials (Ethicon / Medtronic).
</a:t>
            </a:r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Financial Target: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breakeven at Month 14 (12 institutional contracts). Projected Year 3 ARR: $2.6M with 78% gross margin.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GLOBAL HEALTH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Clinical Impact &amp; UN Sustainable Development Goals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Reductions in Patient Morbidity &amp; Democratic Access to Medical Education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03520" cy="438912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QUANTIFIABLE PATIENT &amp; CLINICAL OUTCOMES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40% Reduction in Surgical Site Dehiscence: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mastering everted tissue margins, wound rupture and revision surgeries decrease substantially.
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85% Reduction in Faculty Grading Overhead: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Automates routine score tabulation, letting senior surgeons focus on high-yield clinical mentoring.
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3.2x Increase in Deliberate Practice: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Residents practice uninhibitedly at any hour of day or night without needing to schedule attending proctors.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03520" cy="438912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WITH UN SUSTAINABLE DEVELOPMENT GOALS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SDG 3: Good Health and Well-Being (Target 3.8 &amp; 3.c)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Combats the 4.2M annual global deaths occurring within 30 days of surgery by eliminating preventable operative technique errors.
</a:t>
            </a:r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SDG 4: Quality Education (Target 4.4 &amp; 4.b)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Democratizes premier surgical simulation to Low- and Middle-Income Countries (LMICs) where $100k simulators are unattainable.
</a:t>
            </a:r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SDG 10: Reduced Inequalities (Target 10.2)
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demographic and pedigree biases in surgical resident evaluation through objective, millimeter-accurate telemetry.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SurgiSkill AI: Autonomous, Objective, Accessible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Democratizing Surgical Excellence for Every Operating Room in the World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0" y="2834640"/>
            <a:ext cx="8412480" cy="2103120"/>
          </a:xfrm>
          <a:prstGeom prst="roundRect">
            <a:avLst/>
          </a:prstGeom>
          <a:solidFill>
            <a:srgbClr val="131E32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30175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Hardware-Agnostic: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any standard webcam, smartphone, and silicone training pad.
</a:t>
            </a:r>
            <a:pPr indent="0" marL="0">
              <a:buNone/>
            </a:pPr>
            <a:r>
              <a:rPr lang="en-US" sz="105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Sub-Millimeter Telemetry: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60 FPS bite width, orthogonal entry angle, and SPARC motion smoothness.
</a:t>
            </a:r>
            <a:pPr indent="0" marL="0">
              <a:buNone/>
            </a:pPr>
            <a:r>
              <a:rPr lang="en-US" sz="105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Multimodal Reasoning: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Gemini 3.8 Flash delivers immediate voice &amp; visual clinical coaching.
</a:t>
            </a:r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100% Auditable: </a:t>
            </a:r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preceptors maintain complete oversight with timestamped video evidence logs.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Open for Questions &amp; Live Demonstration.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623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 for Surgical Simulation &amp; Medical Education • AI Studio Initiative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13</Slides>
	<Notes>13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13</vt:i4></vt:variant>
		</vt:vector>
	</HeadingPairs>
	<TitlesOfParts>
		<vt:vector size="16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
		</vt:vector>
	</TitlesOfParts>
	<Company>Center for Surgical Simulation & Medical Education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SurgiSkill AI: Real-Time Multimodal Surgical Skills Assessment</dc:title>
  <dc:subject>Objective Structured Assessment of Technical Skills (OSCE)</dc:subject>
  <dc:creator>SurgiSkill AI Clinical Research Team</dc:creator>
  <cp:lastModifiedBy>SurgiSkill AI Clinical Research Team</cp:lastModifiedBy>
  <cp:revision>1</cp:revision>
  <dcterms:created xsi:type="dcterms:W3CDTF">2026-10-11T09:38:46Z</dcterms:created>
  <dcterms:modified xsi:type="dcterms:W3CDTF">2026-10-11T09:38:46Z</dcterms:modified>
</cp:coreProperties>
</file>